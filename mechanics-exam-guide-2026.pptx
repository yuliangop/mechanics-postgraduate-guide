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2026 力学考研全攻略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B7280"/>
                </a:solidFill>
                <a:latin typeface="Microsoft YaHei"/>
              </a:defRPr>
            </a:pPr>
            <a:r>
              <a:t>从河南理工出发 · 力学人的升学之路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3E3E"/>
                </a:solidFill>
                <a:latin typeface="Microsoft YaHei"/>
              </a:defRPr>
            </a:pPr>
            <a:r>
              <a:t>⚡ 极简风 · 信息全面 · 有点搞怪 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2026.06 | 于亮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transition dur="413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D0D0D"/>
                </a:solidFill>
                <a:latin typeface="Microsoft YaHei"/>
              </a:defRPr>
            </a:pPr>
            <a:r>
              <a:t>目录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731520" cy="548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3E3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0D0D"/>
                </a:solidFill>
                <a:latin typeface="Microsoft YaHei"/>
              </a:defRPr>
            </a:pPr>
            <a:r>
              <a:t>力学考研概况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国家线、招生规模、趋势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834640"/>
            <a:ext cx="868680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971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3E3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971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0D0D"/>
                </a:solidFill>
                <a:latin typeface="Microsoft YaHei"/>
              </a:defRPr>
            </a:pPr>
            <a:r>
              <a:t>学科评估 &amp; 院校梯队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71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A+到C-全排名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3429000"/>
            <a:ext cx="868680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566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3E3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0D0D"/>
                </a:solidFill>
                <a:latin typeface="Microsoft YaHei"/>
              </a:defRPr>
            </a:pPr>
            <a:r>
              <a:t>重点院校推荐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各校特色与方向匹配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4023360"/>
            <a:ext cx="868680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3E3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160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0D0D"/>
                </a:solidFill>
                <a:latin typeface="Microsoft YaHei"/>
              </a:defRPr>
            </a:pPr>
            <a:r>
              <a:t>河南理工力学考研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60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本校情况全解析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4617720"/>
            <a:ext cx="868680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3E3E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0D0D"/>
                </a:solidFill>
                <a:latin typeface="Microsoft YaHei"/>
              </a:defRPr>
            </a:pPr>
            <a:r>
              <a:t>考试科目 &amp; 分数线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考什么，多少分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5212080"/>
            <a:ext cx="868680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349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3E3E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349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0D0D"/>
                </a:solidFill>
                <a:latin typeface="Microsoft YaHei"/>
              </a:defRPr>
            </a:pPr>
            <a:r>
              <a:t>备考建议 &amp; 时间线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49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复习策略 + 避坑指南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5806440"/>
            <a:ext cx="868680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943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3E3E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0D0D"/>
                </a:solidFill>
                <a:latin typeface="Microsoft YaHei"/>
              </a:defRPr>
            </a:pPr>
            <a:r>
              <a:t>太原理工特辑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学长的新征程 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6400800"/>
            <a:ext cx="868680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transition dur="584">
    <p:pus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D0D0D"/>
                </a:solidFill>
                <a:latin typeface="Microsoft YaHei"/>
              </a:defRPr>
            </a:pPr>
            <a:r>
              <a:t>力学考研概况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731520" cy="548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301752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E53E3E"/>
                </a:solidFill>
                <a:latin typeface="Microsoft YaHei"/>
              </a:defRPr>
            </a:pPr>
            <a:r>
              <a:t>251分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2026国家线(A类)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286000"/>
            <a:ext cx="301752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B82F6"/>
                </a:solidFill>
                <a:latin typeface="Microsoft YaHei"/>
              </a:defRPr>
            </a:pPr>
            <a:r>
              <a:t>~3000人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全国招生规模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286000"/>
            <a:ext cx="301752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0B981"/>
                </a:solidFill>
                <a:latin typeface="Microsoft YaHei"/>
              </a:defRPr>
            </a:pPr>
            <a:r>
              <a:t>080100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力学学科代码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📌 力学属工学照顾专业（0801），国家线显著低于普通工学（251 vs 273）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📌 初试科目：政治 + 英语一 + 数学一 + 专业课（材料力学/理论力学）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📌 2026年多数院校执行国家A线251分，34所自划线院校另定（如中南295）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📌 就业方向：航天航空、汽车、土木、能源、科研院所、高校任教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5943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transition dur="644">
    <p:wip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D0D0D"/>
                </a:solidFill>
                <a:latin typeface="Microsoft YaHei"/>
              </a:defRPr>
            </a:pPr>
            <a:r>
              <a:t>2026 国家线 &amp; 复试线详解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731520" cy="548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5029200" cy="27432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2026 工学照顾专业国家线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346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FFFFF"/>
                </a:solidFill>
                <a:latin typeface="Microsoft YaHei"/>
              </a:defRPr>
            </a:pPr>
            <a:r>
              <a:t>251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3E3E"/>
                </a:solidFill>
                <a:latin typeface="Microsoft YaHei"/>
              </a:defRPr>
            </a:pPr>
            <a:r>
              <a:t>总分 | 单科33/50 | A类考生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280"/>
                </a:solidFill>
                <a:latin typeface="Microsoft YaHei"/>
              </a:defRPr>
            </a:pPr>
            <a:r>
              <a:t>类别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03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280"/>
                </a:solidFill>
                <a:latin typeface="Microsoft YaHei"/>
              </a:defRPr>
            </a:pPr>
            <a:r>
              <a:t>总分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103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280"/>
                </a:solidFill>
                <a:latin typeface="Microsoft YaHei"/>
              </a:defRPr>
            </a:pPr>
            <a:r>
              <a:t>单科(100)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2103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280"/>
                </a:solidFill>
                <a:latin typeface="Microsoft YaHei"/>
              </a:defRPr>
            </a:pPr>
            <a:r>
              <a:t>单科(&gt;100)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工学照顾(A类)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6517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0D0D"/>
                </a:solidFill>
                <a:latin typeface="Microsoft YaHei"/>
              </a:defRPr>
            </a:pPr>
            <a:r>
              <a:t>251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6517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0D0D"/>
                </a:solidFill>
                <a:latin typeface="Microsoft YaHei"/>
              </a:defRPr>
            </a:pPr>
            <a:r>
              <a:t>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26517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0D0D"/>
                </a:solidFill>
                <a:latin typeface="Microsoft YaHei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普通工学(A类)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2004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0D0D"/>
                </a:solidFill>
                <a:latin typeface="Microsoft YaHei"/>
              </a:defRPr>
            </a:pPr>
            <a:r>
              <a:t>273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2004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0D0D"/>
                </a:solidFill>
                <a:latin typeface="Microsoft YaHei"/>
              </a:defRPr>
            </a:pPr>
            <a:r>
              <a:t>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32004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0D0D"/>
                </a:solidFill>
                <a:latin typeface="Microsoft YaHei"/>
              </a:defRPr>
            </a:pPr>
            <a:r>
              <a:t>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4903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工学照顾(B类)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74903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0D0D"/>
                </a:solidFill>
                <a:latin typeface="Microsoft YaHei"/>
              </a:defRPr>
            </a:pPr>
            <a:r>
              <a:t>241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74903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0D0D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374903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0D0D"/>
                </a:solidFill>
                <a:latin typeface="Microsoft YaHei"/>
              </a:defRPr>
            </a:pPr>
            <a:r>
              <a:t>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9767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Microsoft YaHei"/>
              </a:defRPr>
            </a:pPr>
            <a:r>
              <a:t>中南大学(自划线)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29767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0D0D"/>
                </a:solidFill>
                <a:latin typeface="Microsoft YaHei"/>
              </a:defRPr>
            </a:pPr>
            <a:r>
              <a:t>295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29767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0D0D"/>
                </a:solidFill>
                <a:latin typeface="Microsoft YaHei"/>
              </a:defRPr>
            </a:pPr>
            <a:r>
              <a:t>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429767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0D0D"/>
                </a:solidFill>
                <a:latin typeface="Microsoft YaHei"/>
              </a:defRPr>
            </a:pPr>
            <a:r>
              <a:t>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💡 力学（0801）属工学照顾专业，享受低于普通工学的单独划线，上岸难度相对较低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5943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transition dur="565">
    <p:dissolv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D0D0D"/>
                </a:solidFill>
                <a:latin typeface="Microsoft YaHei"/>
              </a:defRPr>
            </a:pPr>
            <a:r>
              <a:t>力学学科评估 院校梯队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731520" cy="548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822960" cy="5486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6771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2402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0D0D"/>
                </a:solidFill>
                <a:latin typeface="Microsoft YaHei"/>
              </a:defRPr>
            </a:pPr>
            <a:r>
              <a:t>清华 · 北大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402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🏆 神之领域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08960"/>
            <a:ext cx="82296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1546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0D0D"/>
                </a:solidFill>
                <a:latin typeface="Microsoft YaHei"/>
              </a:defRPr>
            </a:pPr>
            <a:r>
              <a:t>哈工大 · 西交 · 上交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1546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🔥 顶级工科强校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23360"/>
            <a:ext cx="8229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0D0D"/>
                </a:solidFill>
                <a:latin typeface="Microsoft YaHei"/>
              </a:defRPr>
            </a:pPr>
            <a:r>
              <a:t>北航 · 天大 · 大工 · 南航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069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💪 行业翘楚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937760"/>
            <a:ext cx="82296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B+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983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0D0D"/>
                </a:solidFill>
                <a:latin typeface="Microsoft YaHei"/>
              </a:defRPr>
            </a:pPr>
            <a:r>
              <a:t>浙大 · 华科 · 同济 · 西工大 · 北理工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983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✨ 综合名校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852160"/>
            <a:ext cx="822960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2531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897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0D0D"/>
                </a:solidFill>
                <a:latin typeface="Microsoft YaHei"/>
              </a:defRPr>
            </a:pPr>
            <a:r>
              <a:t>太原理工 · 辽工大 · 复旦 · 武大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897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🎯 特色潜力股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数据来源：教育部第四轮学科评估（官方）+ 第五轮各校自公布信息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transition dur="615">
    <p:cover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D0D0D"/>
                </a:solidFill>
                <a:latin typeface="Microsoft YaHei"/>
              </a:defRPr>
            </a:pPr>
            <a:r>
              <a:t>重点院校推荐 &amp; 方向匹配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731520" cy="548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1828800" cy="3474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1828800" cy="640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591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哈工大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航天航空·复合材料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航天项目多</a:t>
            </a:r>
            <a:br/>
            <a:r>
              <a:t>国防七子之首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37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53E3E"/>
                </a:solidFill>
                <a:latin typeface="Microsoft YaHei"/>
              </a:defRPr>
            </a:pPr>
            <a:r>
              <a:t>⭐380+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286000"/>
            <a:ext cx="1828800" cy="3474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2286000"/>
            <a:ext cx="1828800" cy="640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3591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大连理工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2004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计算力学·结构优化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840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钟万勰院士传承</a:t>
            </a:r>
            <a:br/>
            <a:r>
              <a:t>算法软件强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937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53E3E"/>
                </a:solidFill>
                <a:latin typeface="Microsoft YaHei"/>
              </a:defRPr>
            </a:pPr>
            <a:r>
              <a:t>⭐360+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286000"/>
            <a:ext cx="1828800" cy="3474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2286000"/>
            <a:ext cx="1828800" cy="640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3591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南航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004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直升机动力学·疲劳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840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航空特色鲜明</a:t>
            </a:r>
            <a:br/>
            <a:r>
              <a:t>行业认可高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937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53E3E"/>
                </a:solidFill>
                <a:latin typeface="Microsoft YaHei"/>
              </a:defRPr>
            </a:pPr>
            <a:r>
              <a:t>⭐340+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2286000"/>
            <a:ext cx="1828800" cy="3474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2286000"/>
            <a:ext cx="1828800" cy="640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3591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西工大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2004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三航力学·数值模拟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840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国防项目多</a:t>
            </a:r>
            <a:br/>
            <a:r>
              <a:t>实验条件好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937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53E3E"/>
                </a:solidFill>
                <a:latin typeface="Microsoft YaHei"/>
              </a:defRPr>
            </a:pPr>
            <a:r>
              <a:t>⭐350+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286000"/>
            <a:ext cx="1828800" cy="3474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61120" y="2286000"/>
            <a:ext cx="1828800" cy="640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23591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太原理工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2004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固体力学·冲击动力学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840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211双一流</a:t>
            </a:r>
            <a:br/>
            <a:r>
              <a:t>性价比之王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937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53E3E"/>
                </a:solidFill>
                <a:latin typeface="Microsoft YaHei"/>
              </a:defRPr>
            </a:pPr>
            <a:r>
              <a:t>⭐300+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💡 建议：研究方向匹配 + 导师课题组情况 &gt; 学校牌子，不要只盯着排名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457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transition dur="669">
    <p:uncover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D0D0D"/>
                </a:solidFill>
                <a:latin typeface="Microsoft YaHei"/>
              </a:defRPr>
            </a:pPr>
            <a:r>
              <a:t>河南理工 · 力学考研全解析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731520" cy="548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502920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0D0D"/>
                </a:solidFill>
                <a:latin typeface="Microsoft YaHei"/>
              </a:defRPr>
            </a:pPr>
            <a:r>
              <a:t>🏫 河南理工大学 · 土木工程学院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专业代码：080100 力学（全日制学术型硕士）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Microsoft YaHei"/>
              </a:defRPr>
            </a:pPr>
            <a:r>
              <a:t>研究方向：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① 爆炸力学及工程应用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160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② 煤岩体损伤破坏及其稳定性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480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③ 建筑结构的振动与控制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800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④ 新型建筑材料力学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Microsoft YaHei"/>
              </a:defRPr>
            </a:pPr>
            <a:r>
              <a:t>招生人数：~8人/年 | 学制 3 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484632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3317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0D0D"/>
                </a:solidFill>
                <a:latin typeface="Microsoft YaHei"/>
              </a:defRPr>
            </a:pPr>
            <a:r>
              <a:t>执行B区国家线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651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河南省属高校，走B区线241/251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200400"/>
            <a:ext cx="484632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46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2461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0D0D"/>
                </a:solidFill>
                <a:latin typeface="Microsoft YaHei"/>
              </a:defRPr>
            </a:pPr>
            <a:r>
              <a:t>专业课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5661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849材料力学（学校自主命题）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114800"/>
            <a:ext cx="484632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160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YaHei"/>
              </a:defRPr>
            </a:pPr>
            <a:r>
              <a:t>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160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0D0D"/>
                </a:solidFill>
                <a:latin typeface="Microsoft YaHei"/>
              </a:defRPr>
            </a:pPr>
            <a:r>
              <a:t>复试科目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4805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理论力学 + 外语听说 + 综合面试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029200"/>
            <a:ext cx="484632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074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Microsoft YaHei"/>
              </a:defRPr>
            </a:pPr>
            <a:r>
              <a:t>⚖️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0749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0D0D"/>
                </a:solidFill>
                <a:latin typeface="Microsoft YaHei"/>
              </a:defRPr>
            </a:pPr>
            <a:r>
              <a:t>成绩计算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394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初试60% + 复试40%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transition dur="622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D0D0D"/>
                </a:solidFill>
                <a:latin typeface="Microsoft YaHei"/>
              </a:defRPr>
            </a:pPr>
            <a:r>
              <a:t>河南理工 · 历年分数线 &amp; 考情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731520" cy="548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1005840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55520"/>
            <a:ext cx="1645920" cy="27736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98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0D0D"/>
                </a:solidFill>
                <a:latin typeface="Microsoft YaHei"/>
              </a:defRPr>
            </a:pPr>
            <a:r>
              <a:t>260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未实际招生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255520"/>
            <a:ext cx="1645920" cy="27736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798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0D0D"/>
                </a:solidFill>
                <a:latin typeface="Microsoft YaHei"/>
              </a:defRPr>
            </a:pPr>
            <a:r>
              <a:t>260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212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8人录取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351532"/>
            <a:ext cx="1645920" cy="267766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943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0D0D"/>
                </a:solidFill>
                <a:latin typeface="Microsoft YaHei"/>
              </a:defRPr>
            </a:pPr>
            <a:r>
              <a:t>251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212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11人(含调剂)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59" y="2351532"/>
            <a:ext cx="1645920" cy="26776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59" y="18943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0D0D"/>
                </a:solidFill>
                <a:latin typeface="Microsoft YaHei"/>
              </a:defRPr>
            </a:pPr>
            <a:r>
              <a:t>251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5212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预计8人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📌 趋势：分数线稳中有降 → 报考热度不高 → 过线即大概率录取 → 适合求稳型考生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57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transition dur="406">
    <p:push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D0D0D"/>
                </a:solidFill>
                <a:latin typeface="Microsoft YaHei"/>
              </a:defRPr>
            </a:pPr>
            <a:r>
              <a:t>考试科目 &amp; 备考重点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731520" cy="548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2560320" cy="3931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2560320" cy="7315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0D0D"/>
                </a:solidFill>
                <a:latin typeface="Microsoft YaHei"/>
              </a:defRPr>
            </a:pPr>
            <a:r>
              <a:t>政治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101 | 全国统考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选择题+分析题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840480"/>
            <a:ext cx="219456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9月开始不晚</a:t>
            </a:r>
            <a:br/>
            <a:r>
              <a:t>肖秀荣1000题+肖四肖八</a:t>
            </a:r>
            <a:br/>
            <a:r>
              <a:t>选择题刷到40+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2286000"/>
            <a:ext cx="2560320" cy="3931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228600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0D0D"/>
                </a:solidFill>
                <a:latin typeface="Microsoft YaHei"/>
              </a:defRPr>
            </a:pPr>
            <a:r>
              <a:t>英语一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201 | 全国统考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完形+阅读+翻译+作文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3840480"/>
            <a:ext cx="219456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4023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单词是基础，每天200个</a:t>
            </a:r>
            <a:br/>
            <a:r>
              <a:t>真题刷2-3遍（近15年）</a:t>
            </a:r>
            <a:br/>
            <a:r>
              <a:t>作文模板11月准备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2286000"/>
            <a:ext cx="2560320" cy="3931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228600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0D0D"/>
                </a:solidFill>
                <a:latin typeface="Microsoft YaHei"/>
              </a:defRPr>
            </a:pPr>
            <a:r>
              <a:t>数学一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301 | 全国统考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高数+线代+概率论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840480"/>
            <a:ext cx="219456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023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⚠️最拉分！务必重视</a:t>
            </a:r>
            <a:br/>
            <a:r>
              <a:t>推荐张宇/武忠祥/李永乐</a:t>
            </a:r>
            <a:br/>
            <a:r>
              <a:t>真题+模拟卷狂刷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2286000"/>
            <a:ext cx="2560320" cy="3931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228600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59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0D0D"/>
                </a:solidFill>
                <a:latin typeface="Microsoft YaHei"/>
              </a:defRPr>
            </a:pPr>
            <a:r>
              <a:t>材料力学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59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849 | 学校自命题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59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计算+推导+分析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59" y="3840480"/>
            <a:ext cx="219456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59" y="4023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刘鸿文《材料力学》为核心</a:t>
            </a:r>
            <a:br/>
            <a:r>
              <a:t>吃透弯曲/扭转/稳定</a:t>
            </a:r>
            <a:br/>
            <a:r>
              <a:t>搞到历年真题=赢一半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transition dur="564">
    <p:wip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D0D0D"/>
                </a:solidFill>
                <a:latin typeface="Microsoft YaHei"/>
              </a:defRPr>
            </a:pPr>
            <a:r>
              <a:t>备考时间线 &amp; 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731520" cy="548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2560320" cy="2743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2560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3-6月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0D0D"/>
                </a:solidFill>
                <a:latin typeface="Microsoft YaHei"/>
              </a:defRPr>
            </a:pPr>
            <a:r>
              <a:t>基础阶段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数学课本过一遍+英语单词积累</a:t>
            </a:r>
            <a:br/>
            <a:r>
              <a:t>专业课教材第一轮精读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286000"/>
            <a:ext cx="2560320" cy="2743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228600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Microsoft YaHei"/>
              </a:defRPr>
            </a:pPr>
            <a:r>
              <a:t>7-8月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0D0D"/>
                </a:solidFill>
                <a:latin typeface="Microsoft YaHei"/>
              </a:defRPr>
            </a:pPr>
            <a:r>
              <a:t>强化阶段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383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数学刷题模式开启+英语真题</a:t>
            </a:r>
            <a:br/>
            <a:r>
              <a:t>政治启动（视频课+1000题）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2286000"/>
            <a:ext cx="2560320" cy="2743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228600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Microsoft YaHei"/>
              </a:defRPr>
            </a:pPr>
            <a:r>
              <a:t>9-10月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0D0D"/>
                </a:solidFill>
                <a:latin typeface="Microsoft YaHei"/>
              </a:defRPr>
            </a:pPr>
            <a:r>
              <a:t>冲刺阶段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83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网上报名确认+各科真题反复刷</a:t>
            </a:r>
            <a:br/>
            <a:r>
              <a:t>查漏补缺+专业课真题开搞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286000"/>
            <a:ext cx="2560320" cy="2743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286000"/>
            <a:ext cx="2560320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3E3E"/>
                </a:solidFill>
                <a:latin typeface="Microsoft YaHei"/>
              </a:defRPr>
            </a:pPr>
            <a:r>
              <a:t>11-12月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0D0D"/>
                </a:solidFill>
                <a:latin typeface="Microsoft YaHei"/>
              </a:defRPr>
            </a:pPr>
            <a:r>
              <a:t>模考阶段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3383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全套模拟考试+肖四肖八背诵</a:t>
            </a:r>
            <a:br/>
            <a:r>
              <a:t>调整心态+保持手感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303520"/>
            <a:ext cx="320040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394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0D0D"/>
                </a:solidFill>
                <a:latin typeface="Microsoft YaHei"/>
              </a:defRPr>
            </a:pPr>
            <a:r>
              <a:t>🎯 目标分数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760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政治60+英语55+数学80+专业课90+</a:t>
            </a:r>
            <a:br/>
            <a:r>
              <a:t>= 总分285+（远超251国家线）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5303520"/>
            <a:ext cx="320040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394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0D0D"/>
                </a:solidFill>
                <a:latin typeface="Microsoft YaHei"/>
              </a:defRPr>
            </a:pPr>
            <a:r>
              <a:t>⚠️ 最大坑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760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数学一内容最多、难度最大</a:t>
            </a:r>
            <a:br/>
            <a:r>
              <a:t>很多人挂在数学上，务必每天4h+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5303520"/>
            <a:ext cx="320040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5394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0D0D"/>
                </a:solidFill>
                <a:latin typeface="Microsoft YaHei"/>
              </a:defRPr>
            </a:pPr>
            <a:r>
              <a:t>💪 核心策略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760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真题为王！专业课搞到历年真题</a:t>
            </a:r>
            <a:br/>
            <a:r>
              <a:t>你就赢了50%的人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transition dur="523">
    <p:dissolv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D0D0D"/>
                </a:solidFill>
                <a:latin typeface="Microsoft YaHei"/>
              </a:defRPr>
            </a:pPr>
            <a:r>
              <a:t>河南理工力学 · 优劣势深挖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731520" cy="548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502920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✅ 优势分析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B区国家线=241~251分，上岸门槛低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报考热度不高，竞争压力小（一志愿可能不足）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490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接收跨专业考生（土木/机械/矿业等工科背景）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60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专业课849材料力学，题目相对常规规律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差额复试比例约1:1.5，复试压力不大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983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学制3年，充足时间科研+考证+实习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286000"/>
            <a:ext cx="502920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E3E"/>
                </a:solidFill>
                <a:latin typeface="Microsoft YaHei"/>
              </a:defRPr>
            </a:pPr>
            <a:r>
              <a:t>⚠️ 劣势 &amp; 注意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学科实力偏弱（未入独立评估榜单）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375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依托土木工程学院，力学非独立院系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7490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招生人数少（~8人），导师选择面窄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160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部分年份一志愿可能全挂（靠调剂补）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572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就业多偏向煤矿/建筑类单位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983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学术资源不如力学强校（设备/项目/会议）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transition dur="530">
    <p:cover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D0D0D"/>
                </a:solidFill>
                <a:latin typeface="Microsoft YaHei"/>
              </a:defRPr>
            </a:pPr>
            <a:r>
              <a:t>🎉 太原理工大学 · 学长新征程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731520" cy="548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5029200" cy="36576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太原理工大学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力学 · 学术型硕士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  <a:latin typeface="Microsoft YaHei"/>
              </a:defRPr>
            </a:pPr>
            <a:r>
              <a:t>211工程 | 双一流 | 学科评估C+ | 山西第一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💬 "从河南理工到太原理工，</a:t>
            </a:r>
            <a:br/>
            <a:r>
              <a:t>这不是终点，是新的起点。</a:t>
            </a:r>
            <a:br/>
            <a:r>
              <a:t>感谢母校，未来可期。"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3E3E"/>
                </a:solidFill>
                <a:latin typeface="Microsoft YaHei"/>
              </a:defRPr>
            </a:pPr>
            <a:r>
              <a:t>—— 于亮，2026级准研究生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484632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53E3E"/>
                </a:solidFill>
                <a:latin typeface="Microsoft YaHei"/>
              </a:defRPr>
            </a:pPr>
            <a:r>
              <a:t>211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国家211工程重点建设大学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200400"/>
            <a:ext cx="484632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291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53E3E"/>
                </a:solidFill>
                <a:latin typeface="Microsoft YaHei"/>
              </a:defRPr>
            </a:pPr>
            <a:r>
              <a:t>双一流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第二轮"双一流"建设高校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114800"/>
            <a:ext cx="484632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53E3E"/>
                </a:solidFill>
                <a:latin typeface="Microsoft YaHei"/>
              </a:defRPr>
            </a:pPr>
            <a:r>
              <a:t>C+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力学学科评估C+档（第四轮）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029200"/>
            <a:ext cx="484632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1206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53E3E"/>
                </a:solidFill>
                <a:latin typeface="Microsoft YaHei"/>
              </a:defRPr>
            </a:pPr>
            <a:r>
              <a:t>山西No.1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212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山西高校工科实力第一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5943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B7280"/>
                </a:solidFill>
                <a:latin typeface="Microsoft YaHei"/>
              </a:defRPr>
            </a:pPr>
            <a:r>
              <a:t>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transition dur="420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D0D0D"/>
                </a:solidFill>
                <a:latin typeface="Microsoft YaHei"/>
              </a:defRPr>
            </a:pPr>
            <a:r>
              <a:t>考研毒鸡汤 &amp; 真情实感 🤡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731520" cy="548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3474720" cy="3474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D2D2D"/>
                </a:solidFill>
                <a:latin typeface="Microsoft YaHei"/>
              </a:defRPr>
            </a:pPr>
            <a:r>
              <a:t>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考研就像在黑屋子里洗衣服，</a:t>
            </a:r>
            <a:br/>
            <a:r>
              <a:t>你不知道洗干净了没有，</a:t>
            </a:r>
            <a:br/>
            <a:r>
              <a:t>只能一遍一遍地洗。</a:t>
            </a:r>
            <a:br/>
            <a:r>
              <a:t>等上了考场，灯亮了，</a:t>
            </a:r>
            <a:br/>
            <a:r>
              <a:t>你发现有的人忘了加洗衣粉，</a:t>
            </a:r>
            <a:br/>
            <a:r>
              <a:t>有的人在用洗衣机。</a:t>
            </a:r>
            <a:br/>
            <a:r>
              <a:t>但只要你认真洗过，</a:t>
            </a:r>
            <a:br/>
            <a:r>
              <a:t>那件衣服一定光亮如新。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286000"/>
            <a:ext cx="3474720" cy="3474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D2D2D"/>
                </a:solidFill>
                <a:latin typeface="Microsoft YaHei"/>
              </a:defRPr>
            </a:pPr>
            <a:r>
              <a:t>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不要自我感动。</a:t>
            </a:r>
            <a:br/>
            <a:r>
              <a:t>你觉得自己在图书馆坐了一天</a:t>
            </a:r>
            <a:br/>
            <a:r>
              <a:t>很努力？</a:t>
            </a:r>
            <a:br/>
            <a:r>
              <a:t>真正有效学习时间</a:t>
            </a:r>
            <a:br/>
            <a:r>
              <a:t>可能不到3小时。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286000"/>
            <a:ext cx="3474720" cy="3474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D2D2D"/>
                </a:solidFill>
                <a:latin typeface="Microsoft YaHei"/>
              </a:defRPr>
            </a:pPr>
            <a:r>
              <a:t>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数学一的命题人，</a:t>
            </a:r>
            <a:br/>
            <a:r>
              <a:t>不是在考你数学，</a:t>
            </a:r>
            <a:br/>
            <a:r>
              <a:t>是在考你心态。</a:t>
            </a:r>
            <a:br/>
            <a:r>
              <a:t>遇见不会的就跳，</a:t>
            </a:r>
            <a:br/>
            <a:r>
              <a:t>跳着跳着发现……</a:t>
            </a:r>
            <a:br/>
            <a:r>
              <a:t>整张卷子都跳完了。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0D0D"/>
                </a:solidFill>
                <a:latin typeface="Microsoft YaHei"/>
              </a:defRPr>
            </a:pPr>
            <a:r>
              <a:t>最后说一句：考研只是人生选项之一，不是全部。认真准备过的人，都不会亏。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transition dur="674">
    <p:dissolv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B7280"/>
                </a:solidFill>
                <a:latin typeface="Microsoft YaHei"/>
              </a:defRPr>
            </a:pPr>
            <a:r>
              <a:t>祝每一位力学考研人都上岸！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3E3E"/>
                </a:solidFill>
                <a:latin typeface="Microsoft YaHei"/>
              </a:defRPr>
            </a:pPr>
            <a:r>
              <a:t>时刻为中华之崛起而戒色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Microsoft YaHei"/>
              </a:defRPr>
            </a:pPr>
            <a:r>
              <a:t>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53035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Microsoft YaHei"/>
              </a:defRPr>
            </a:pPr>
            <a: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3035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Microsoft YaHei"/>
              </a:defRPr>
            </a:pPr>
            <a:r>
              <a:t>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79" y="53035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Microsoft YaHei"/>
              </a:defRPr>
            </a:pPr>
            <a:r>
              <a:t>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53035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Microsoft YaHei"/>
              </a:defRPr>
            </a:pPr>
            <a:r>
              <a:t>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3035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Microsoft YaHei"/>
              </a:defRPr>
            </a:pPr>
            <a:r>
              <a:t>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59" y="53035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Microsoft YaHei"/>
              </a:defRPr>
            </a:pPr>
            <a:r>
              <a:t>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2026 | 于亮 | 力学考研全攻略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transition dur="479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